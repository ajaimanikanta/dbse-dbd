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1987" cy="15119969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90" Type="http://schemas.openxmlformats.org/officeDocument/2006/relationships/image" Target="../media/image5.png"/><Relationship Id="rId9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700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40000"/>
            <a:ext cx="1220000" cy="1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00000" y="100000"/>
            <a:ext cx="8550000" cy="150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spcAft>
                <a:spcPts val="400"/>
              </a:spcAft>
              <a:buNone/>
            </a:pPr>
            <a:r>
              <a:rPr sz="1900" b="1">
                <a:solidFill>
                  <a:srgbClr val="FFFFFF"/>
                </a:solidFill>
                <a:latin typeface="Aptos"/>
              </a:rPr>
              <a:t>FOOD AND BEVERAGE MOBILE APP FOR DINER SELF-SERVICE</a:t>
            </a:r>
            <a:br/>
            <a:r>
              <a:rPr sz="1050" b="1">
                <a:solidFill>
                  <a:srgbClr val="FFFFFF"/>
                </a:solidFill>
                <a:latin typeface="Aptos"/>
              </a:rPr>
              <a:t>Team ID: 21  |  Section: 7  |  Members: Ajai Manikanta – 2520030320, Akshith – 2520030041, Teja – 2520030569  |  Guide: Dr. Spandana</a:t>
            </a:r>
            <a:br/>
            <a:r>
              <a:rPr sz="1050" b="1">
                <a:solidFill>
                  <a:srgbClr val="FFFFFF"/>
                </a:solidFill>
                <a:latin typeface="Aptos"/>
              </a:rPr>
              <a:t>Database Systems Engineering and Distributed Backend Development (25CS1302E)  |  KLH Bachupally Campus, CSE  |  PBL 2026–27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1830000"/>
            <a:ext cx="4844034" cy="245000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20000"/>
            <a:ext cx="4569714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600" b="1">
                <a:solidFill>
                  <a:srgbClr val="192F52"/>
                </a:solidFill>
                <a:latin typeface="Aptos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270000"/>
            <a:ext cx="4569714" cy="194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DineUp is a self-service food and beverage platform connecting diners, restaurants and administrators through a web-based system, with a planned Customer Android APK. Diners can browse restaurants, branches and menus, select a table, place orders and track status. Restaurants manage branches, dishes, availability and incoming orders, while Admin manages platform data and accounts.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The system uses REST APIs, Node.js/Express and a MySQL-compatible cloud database for centralized order management.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4380000"/>
            <a:ext cx="4844034" cy="2650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4470000"/>
            <a:ext cx="4569714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600" b="1">
                <a:solidFill>
                  <a:srgbClr val="192F52"/>
                </a:solidFill>
                <a:latin typeface="Aptos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820000"/>
            <a:ext cx="4569714" cy="214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Problem: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Traditional table ordering can involve waiting for staff, manual order entry and limited visibility of order status.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Objective 1: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Provide fast self-service ordering from a customer's table.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Objective 2: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Give restaurants centralized menu, branch and order management.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Objective 3: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Synchronize customer, restaurant and order data through REST APIs.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Scope: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Customer ordering, restaurant management, admin control, menu/branch management and order tracking.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7130000"/>
            <a:ext cx="4844034" cy="210000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7220000"/>
            <a:ext cx="456971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570000"/>
          <a:ext cx="4560000" cy="1500000"/>
        </p:xfrm>
        <a:graphic>
          <a:graphicData uri="http://schemas.openxmlformats.org/drawingml/2006/table">
            <a:tbl>
              <a:tblPr/>
              <a:tblGrid>
                <a:gridCol w="1000000"/>
                <a:gridCol w="1780000"/>
                <a:gridCol w="1780000"/>
              </a:tblGrid>
              <a:tr h="250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Existing System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Proposed System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F52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Ordering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Waiter/manual ordering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Diner self-service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Menu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Physical/menu-dependent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Live digital menu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9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Order status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Limited visibility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Status tracking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Management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Manual/separate records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Centralized REST + DB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9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Key gap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Slow coordination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</a:rPr>
                        <a:t>Connected workflow</a:t>
                      </a:r>
                    </a:p>
                  </a:txBody>
                  <a:tcPr marL="64000" marR="64000" marT="30000" marB="3000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330000"/>
            <a:ext cx="4844034" cy="24000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420000"/>
            <a:ext cx="4569714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600" b="1">
                <a:solidFill>
                  <a:srgbClr val="192F52"/>
                </a:solidFill>
                <a:latin typeface="Aptos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770000"/>
            <a:ext cx="4569714" cy="189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Technical: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HTML/CSS/JavaScript, Node.js/Express, REST APIs, MySQL-compatible cloud database, Firebase Hosting and Render.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Economic: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Open-source software and student-friendly/free-tier cloud services reduce development cost.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Operational: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Simple customer flow and dedicated restaurant/admin interfaces support easy adoption and maintenance.</a:t>
            </a:r>
          </a:p>
          <a:p>
            <a:pPr marL="171450" indent="-17145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Schedule: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Modular development and testing fit the semester PBL timeline.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1830000"/>
            <a:ext cx="4844034" cy="2200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1920000"/>
            <a:ext cx="4569714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600" b="1">
                <a:solidFill>
                  <a:srgbClr val="192F52"/>
                </a:solidFill>
                <a:latin typeface="Aptos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270000"/>
            <a:ext cx="4569714" cy="169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 algn="l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Front-End: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HTML5, CSS3, JavaScript; Customer Android APK planned</a:t>
            </a:r>
          </a:p>
          <a:p>
            <a:pPr marL="171450" indent="-171450" algn="l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Back-End: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Node.js + Express + REST APIs</a:t>
            </a:r>
          </a:p>
          <a:p>
            <a:pPr marL="171450" indent="-171450" algn="l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Database: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TiDB Cloud (MySQL-compatible)</a:t>
            </a:r>
          </a:p>
          <a:p>
            <a:pPr marL="171450" indent="-171450" algn="l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Authentication: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Google sign-in / JWT-based authentication</a:t>
            </a:r>
          </a:p>
          <a:p>
            <a:pPr marL="171450" indent="-171450" algn="l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Hosting: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Firebase Hosting + Render</a:t>
            </a:r>
          </a:p>
          <a:p>
            <a:pPr marL="171450" indent="-171450" algn="l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Tools: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Git &amp; GitHub, VS Code, Android Studio, Postman</a:t>
            </a:r>
          </a:p>
          <a:p>
            <a:pPr marL="171450" indent="-171450" algn="l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92F52"/>
                </a:solidFill>
                <a:latin typeface="Aptos"/>
              </a:rPr>
              <a:t>Development:</a:t>
            </a:r>
            <a:r>
              <a:rPr lang="en-US" sz="1050" b="1" dirty="0">
                <a:solidFill>
                  <a:srgbClr val="232323"/>
                </a:solidFill>
                <a:latin typeface="Aptos"/>
              </a:rPr>
              <a:t> CRUD, validation, image uploads and order-status workflow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130000"/>
            <a:ext cx="4844034" cy="30500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220000"/>
            <a:ext cx="4569714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600" b="1">
                <a:solidFill>
                  <a:srgbClr val="192F52"/>
                </a:solidFill>
                <a:latin typeface="Aptos"/>
              </a:rPr>
              <a:t>System Architecture &amp; ER Diagram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4114" y="7280000"/>
            <a:ext cx="4844034" cy="445000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7370000"/>
            <a:ext cx="4569714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600" b="1">
                <a:solidFill>
                  <a:srgbClr val="192F52"/>
                </a:solidFill>
                <a:latin typeface="Aptos"/>
              </a:rPr>
              <a:t>Implementation Screenshots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65760" y="11830000"/>
            <a:ext cx="3137916" cy="240000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1920000"/>
            <a:ext cx="2863596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500" b="1">
                <a:solidFill>
                  <a:srgbClr val="192F52"/>
                </a:solidFill>
                <a:latin typeface="Aptos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2270000"/>
            <a:ext cx="2863596" cy="189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REST APIs tested for authentication, restaurants, branches, menus and orders.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CRUD workflows implemented.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Server-side validation used for order/menu data.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Restaurant-uploaded images served through the backend.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Customer, Restaurant and Admin interfaces connect to the cloud backend.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1830000"/>
            <a:ext cx="3137916" cy="240000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1920000"/>
            <a:ext cx="2863596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500" b="1">
                <a:solidFill>
                  <a:srgbClr val="192F52"/>
                </a:solidFill>
                <a:latin typeface="Aptos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2270000"/>
            <a:ext cx="2863596" cy="189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DineUp demonstrates a connected diner self-service workflow from digital menu discovery to order placement and status tracking.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The centralized REST backend and cloud database connect Customer, Restaurant and Admin modules and improve order visibility.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1830000"/>
            <a:ext cx="3137916" cy="240000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1920000"/>
            <a:ext cx="2863596" cy="33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r>
              <a:rPr sz="1500" b="1">
                <a:solidFill>
                  <a:srgbClr val="192F52"/>
                </a:solidFill>
                <a:latin typeface="Aptos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2270000"/>
            <a:ext cx="2863596" cy="189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Release Customer Android APK.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Add richer real-time notifications.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Expand analytics and reporting.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Scale backend/database for more restaurants.</a:t>
            </a:r>
          </a:p>
          <a:p>
            <a:pPr marL="171450" indent="-171450" algn="l">
              <a:spcAft>
                <a:spcPts val="250"/>
              </a:spcAft>
              <a:buSzPct val="100000"/>
              <a:buChar char="•"/>
            </a:pPr>
            <a:r>
              <a:rPr lang="en-US" sz="1050" b="1" dirty="0">
                <a:solidFill>
                  <a:srgbClr val="232323"/>
                </a:solidFill>
                <a:latin typeface="Aptos"/>
              </a:rPr>
              <a:t>Add production payment integration when required.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30000"/>
            <a:ext cx="8900000" cy="5000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 algn="l">
              <a:buNone/>
            </a:pPr>
            <a:pPr indent="0" marL="0">
              <a:buNone/>
            </a:pPr>
            <a:r>
              <a:rPr sz="900" b="1">
                <a:solidFill>
                  <a:srgbClr val="232323"/>
                </a:solidFill>
                <a:latin typeface="Aptos"/>
              </a:rPr>
              <a:t>References: [1] Node.js &amp; Express Documentation  [2] Firebase Hosting Documentation  [3] TiDB Cloud Documentation  [4] GitHub – DineUp Backend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pic>
        <p:nvPicPr>
          <p:cNvPr id="62" name="Picture 61" descr="dineup_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88" y="14264640"/>
            <a:ext cx="822960" cy="822960"/>
          </a:xfrm>
          <a:prstGeom prst="rect">
            <a:avLst/>
          </a:prstGeom>
        </p:spPr>
      </p:pic>
      <p:sp>
        <p:nvSpPr>
          <p:cNvPr id="63" name="Customer Label"/>
          <p:cNvSpPr txBox="1"/>
          <p:nvPr/>
        </p:nvSpPr>
        <p:spPr>
          <a:xfrm>
            <a:off x="5641274" y="7720000"/>
            <a:ext cx="1575000" cy="190000"/>
          </a:xfrm>
          <a:prstGeom prst="rect">
            <a:avLst/>
          </a:prstGeom>
          <a:noFill/>
        </p:spPr>
        <p:txBody>
          <a:bodyPr wrap="square" lIns="0" rIns="0" t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850" b="1" dirty="0">
                <a:solidFill>
                  <a:srgbClr val="192F52"/>
                </a:solidFill>
                <a:latin typeface="Aptos"/>
              </a:rPr>
              <a:t>Customer</a:t>
            </a:r>
          </a:p>
        </p:txBody>
      </p:sp>
      <p:sp>
        <p:nvSpPr>
          <p:cNvPr id="64" name="Restaurant Label"/>
          <p:cNvSpPr txBox="1"/>
          <p:nvPr/>
        </p:nvSpPr>
        <p:spPr>
          <a:xfrm>
            <a:off x="7336274" y="7720000"/>
            <a:ext cx="2834714" cy="190000"/>
          </a:xfrm>
          <a:prstGeom prst="rect">
            <a:avLst/>
          </a:prstGeom>
          <a:noFill/>
        </p:spPr>
        <p:txBody>
          <a:bodyPr wrap="square" lIns="0" rIns="0" t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850" b="1" dirty="0">
                <a:solidFill>
                  <a:srgbClr val="192F52"/>
                </a:solidFill>
                <a:latin typeface="Aptos"/>
              </a:rPr>
              <a:t>Restaurant / Admin</a:t>
            </a:r>
          </a:p>
        </p:txBody>
      </p:sp>
      <p:pic>
        <p:nvPicPr>
          <p:cNvPr id="65" name="Customer Screenshot" descr="DineUp customer app home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274" y="7910000"/>
            <a:ext cx="1575000" cy="3500000"/>
          </a:xfrm>
          <a:prstGeom prst="rect">
            <a:avLst/>
          </a:prstGeom>
          <a:ln w="9525">
            <a:solidFill>
              <a:srgbClr val="192F52"/>
            </a:solidFill>
          </a:ln>
        </p:spPr>
      </p:pic>
      <p:pic>
        <p:nvPicPr>
          <p:cNvPr id="66" name="Restaurant Screenshot" descr="DineUp restaurant 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274" y="7910000"/>
            <a:ext cx="2834714" cy="1414006"/>
          </a:xfrm>
          <a:prstGeom prst="rect">
            <a:avLst/>
          </a:prstGeom>
          <a:ln w="9525">
            <a:solidFill>
              <a:srgbClr val="192F52"/>
            </a:solidFill>
          </a:ln>
        </p:spPr>
      </p:pic>
      <p:sp>
        <p:nvSpPr>
          <p:cNvPr id="67" name="Screenshot Captions"/>
          <p:cNvSpPr txBox="1"/>
          <p:nvPr/>
        </p:nvSpPr>
        <p:spPr>
          <a:xfrm>
            <a:off x="7336274" y="9414006"/>
            <a:ext cx="2834714" cy="1995994"/>
          </a:xfrm>
          <a:prstGeom prst="rect">
            <a:avLst/>
          </a:prstGeom>
          <a:noFill/>
        </p:spPr>
        <p:txBody>
          <a:bodyPr wrap="square" lIns="0" rIns="0" tIns="0" bIns="0" rtlCol="0" anchor="t"/>
          <a:lstStyle/>
          <a:p>
            <a:pPr marL="0" indent="0" algn="l">
              <a:spcAft>
                <a:spcPts val="80"/>
              </a:spcAft>
              <a:buNone/>
            </a:pPr>
            <a:r>
              <a:rPr lang="en-US" sz="900" b="1" dirty="0">
                <a:solidFill>
                  <a:srgbClr val="192F52"/>
                </a:solidFill>
                <a:latin typeface="Aptos"/>
              </a:rPr>
              <a:t>Customer app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Restaurants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Select branch + table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Browse dishes &amp; cart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Place order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Track status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300" b="1" dirty="0">
                <a:solidFill>
                  <a:srgbClr val="232323"/>
                </a:solidFill>
                <a:latin typeface="Aptos"/>
              </a:rPr>
              <a:t/>
            </a:r>
          </a:p>
          <a:p>
            <a:pPr marL="0" indent="0" algn="l">
              <a:spcAft>
                <a:spcPts val="80"/>
              </a:spcAft>
              <a:buNone/>
            </a:pPr>
            <a:r>
              <a:rPr lang="en-US" sz="900" b="1" dirty="0">
                <a:solidFill>
                  <a:srgbClr val="192F52"/>
                </a:solidFill>
                <a:latin typeface="Aptos"/>
              </a:rPr>
              <a:t>Restaurant / Admin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Manage branches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Add &amp; edit dishes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Set availability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Receive orders</a:t>
            </a:r>
          </a:p>
          <a:p>
            <a:pPr marL="171450" indent="-171450" algn="l">
              <a:spcAft>
                <a:spcPts val="40"/>
              </a:spcAft>
              <a:buSzPct val="100000"/>
              <a:buChar char="•"/>
            </a:pPr>
            <a:r>
              <a:rPr lang="en-US" sz="880" b="1" dirty="0">
                <a:solidFill>
                  <a:srgbClr val="232323"/>
                </a:solidFill>
                <a:latin typeface="Aptos"/>
              </a:rPr>
              <a:t>Update order status</a:t>
            </a:r>
          </a:p>
        </p:txBody>
      </p:sp>
      <p:pic>
        <p:nvPicPr>
          <p:cNvPr id="68" name="System Architecture Diagram" descr="DineUp system architecture diagram"/>
          <p:cNvPicPr>
            <a:picLocks noChangeAspect="1"/>
          </p:cNvPicPr>
          <p:nvPr/>
        </p:nvPicPr>
        <p:blipFill>
          <a:blip r:embed="rId90"/>
          <a:srcRect t="5618"/>
          <a:stretch>
            <a:fillRect/>
          </a:stretch>
        </p:blipFill>
        <p:spPr>
          <a:xfrm>
            <a:off x="5621274" y="4570000"/>
            <a:ext cx="3369180" cy="2398399"/>
          </a:xfrm>
          <a:prstGeom prst="rect">
            <a:avLst/>
          </a:prstGeom>
        </p:spPr>
      </p:pic>
      <p:pic>
        <p:nvPicPr>
          <p:cNvPr id="69" name="ER Diagram" descr="DineUp ER diagram"/>
          <p:cNvPicPr>
            <a:picLocks noChangeAspect="1"/>
          </p:cNvPicPr>
          <p:nvPr/>
        </p:nvPicPr>
        <p:blipFill>
          <a:blip r:embed="rId91"/>
          <a:srcRect t="2966"/>
          <a:stretch>
            <a:fillRect/>
          </a:stretch>
        </p:blipFill>
        <p:spPr>
          <a:xfrm>
            <a:off x="9110454" y="4570000"/>
            <a:ext cx="1080534" cy="2398399"/>
          </a:xfrm>
          <a:prstGeom prst="rect">
            <a:avLst/>
          </a:prstGeom>
        </p:spPr>
      </p:pic>
      <p:pic>
        <p:nvPicPr>
          <p:cNvPr id="70" name="KLH Logo" descr="KLH University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760" y="433761"/>
            <a:ext cx="1120000" cy="8324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