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E53E6D-9A2F-4FB3-BF7A-39DA44043D1D}" v="343" dt="2026-08-18T04:14:30.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61" d="100"/>
          <a:sy n="61" d="100"/>
        </p:scale>
        <p:origin x="372" y="60"/>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2030410" y="421003"/>
            <a:ext cx="10392383" cy="776839"/>
          </a:xfrm>
        </p:spPr>
        <p:txBody>
          <a:bodyPr>
            <a:noAutofit/>
          </a:bodyPr>
          <a:lstStyle/>
          <a:p>
            <a:pPr marL="228600" indent="-228600">
              <a:spcBef>
                <a:spcPts val="1000"/>
              </a:spcBef>
            </a:pPr>
            <a:br>
              <a:rPr lang="en-US" sz="2800" b="1" dirty="0">
                <a:latin typeface="Calibri"/>
                <a:ea typeface="Calibri"/>
                <a:cs typeface="Calibri"/>
              </a:rPr>
            </a:br>
            <a:r>
              <a:rPr lang="en-US" sz="2800" b="1">
                <a:latin typeface="Calibri"/>
                <a:ea typeface="Calibri"/>
                <a:cs typeface="Calibri"/>
              </a:rPr>
              <a:t>1</a:t>
            </a:r>
            <a:r>
              <a:rPr lang="en-US" sz="2800" b="1" baseline="30000">
                <a:latin typeface="Calibri"/>
                <a:ea typeface="Calibri"/>
                <a:cs typeface="Calibri"/>
              </a:rPr>
              <a:t>st</a:t>
            </a:r>
            <a:r>
              <a:rPr lang="en-US" sz="2800" b="1">
                <a:latin typeface="Calibri"/>
                <a:ea typeface="Calibri"/>
                <a:cs typeface="Calibri"/>
              </a:rPr>
              <a:t>  REVIEW</a:t>
            </a:r>
            <a:br>
              <a:rPr lang="en-US" sz="2800" dirty="0">
                <a:latin typeface="+mn-lt"/>
                <a:ea typeface="Calibri"/>
                <a:cs typeface="Calibri"/>
              </a:rPr>
            </a:br>
            <a:br>
              <a:rPr lang="en-US" sz="2800" dirty="0">
                <a:latin typeface="+mn-lt"/>
                <a:ea typeface="Calibri"/>
                <a:cs typeface="Calibri"/>
              </a:rPr>
            </a:br>
            <a:r>
              <a:rPr lang="en-US" sz="2800">
                <a:latin typeface="+mn-lt"/>
                <a:ea typeface="Calibri"/>
                <a:cs typeface="Calibri"/>
              </a:rPr>
              <a:t>Food &amp; Beverage Mobile App for Diner Self-Service</a:t>
            </a:r>
          </a:p>
          <a:p>
            <a:pPr algn="ctr">
              <a:lnSpc>
                <a:spcPct val="100000"/>
              </a:lnSpc>
            </a:pPr>
            <a:endParaRPr lang="en-US" sz="2400" dirty="0">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None/>
            </a:pPr>
            <a:r>
              <a:rPr lang="en-US" sz="2400" dirty="0">
                <a:solidFill>
                  <a:srgbClr val="00B050"/>
                </a:solidFill>
              </a:rPr>
              <a:t>Dr . Y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696460259"/>
              </p:ext>
            </p:extLst>
          </p:nvPr>
        </p:nvGraphicFramePr>
        <p:xfrm>
          <a:off x="2032000" y="1680962"/>
          <a:ext cx="8151628" cy="1097280"/>
        </p:xfrm>
        <a:graphic>
          <a:graphicData uri="http://schemas.openxmlformats.org/drawingml/2006/table">
            <a:tbl>
              <a:tblPr firstRow="1" bandRow="1">
                <a:tableStyleId>{5940675A-B579-460E-94D1-54222C63F5DA}</a:tableStyleId>
              </a:tblPr>
              <a:tblGrid>
                <a:gridCol w="4075814">
                  <a:extLst>
                    <a:ext uri="{9D8B030D-6E8A-4147-A177-3AD203B41FA5}">
                      <a16:colId xmlns:a16="http://schemas.microsoft.com/office/drawing/2014/main" val="2649491121"/>
                    </a:ext>
                  </a:extLst>
                </a:gridCol>
                <a:gridCol w="4075814">
                  <a:extLst>
                    <a:ext uri="{9D8B030D-6E8A-4147-A177-3AD203B41FA5}">
                      <a16:colId xmlns:a16="http://schemas.microsoft.com/office/drawing/2014/main" val="1478369533"/>
                    </a:ext>
                  </a:extLst>
                </a:gridCol>
              </a:tblGrid>
              <a:tr h="251084">
                <a:tc>
                  <a:txBody>
                    <a:bodyPr/>
                    <a:lstStyle/>
                    <a:p>
                      <a:r>
                        <a:rPr lang="en-US" dirty="0"/>
                        <a:t> Name1:</a:t>
                      </a:r>
                      <a:r>
                        <a:rPr lang="en-US" sz="1800" b="0" i="0" u="none" strike="noStrike" noProof="0" dirty="0">
                          <a:latin typeface="Calibri"/>
                          <a:ea typeface="Calibri"/>
                          <a:cs typeface="Calibri"/>
                        </a:rPr>
                        <a:t>REVURU AKSHITH</a:t>
                      </a:r>
                      <a:endParaRPr lang="en-US" dirty="0"/>
                    </a:p>
                  </a:txBody>
                  <a:tcPr/>
                </a:tc>
                <a:tc>
                  <a:txBody>
                    <a:bodyPr/>
                    <a:lstStyle/>
                    <a:p>
                      <a:r>
                        <a:rPr lang="en-US"/>
                        <a:t>Roll no </a:t>
                      </a:r>
                      <a:r>
                        <a:rPr lang="en-US" sz="1800" b="0" i="0" u="none" strike="noStrike" noProof="0">
                          <a:latin typeface="Calibri"/>
                          <a:ea typeface="Calibri"/>
                          <a:cs typeface="Calibri"/>
                        </a:rPr>
                        <a:t>2520030041</a:t>
                      </a:r>
                      <a:endParaRPr lang="en-US" dirty="0"/>
                    </a:p>
                  </a:txBody>
                  <a:tcPr/>
                </a:tc>
                <a:extLst>
                  <a:ext uri="{0D108BD9-81ED-4DB2-BD59-A6C34878D82A}">
                    <a16:rowId xmlns:a16="http://schemas.microsoft.com/office/drawing/2014/main" val="253518174"/>
                  </a:ext>
                </a:extLst>
              </a:tr>
              <a:tr h="251084">
                <a:tc>
                  <a:txBody>
                    <a:bodyPr/>
                    <a:lstStyle/>
                    <a:p>
                      <a:r>
                        <a:rPr lang="en-US" sz="1800" b="0" i="0" u="none" strike="noStrike" noProof="0">
                          <a:latin typeface="Calibri"/>
                          <a:ea typeface="Calibri"/>
                          <a:cs typeface="Calibri"/>
                        </a:rPr>
                        <a:t> Name2:KATENI AJAI MANIKANTA</a:t>
                      </a:r>
                      <a:endParaRPr lang="en-US" dirty="0"/>
                    </a:p>
                  </a:txBody>
                  <a:tcPr/>
                </a:tc>
                <a:tc>
                  <a:txBody>
                    <a:bodyPr/>
                    <a:lstStyle/>
                    <a:p>
                      <a:r>
                        <a:rPr lang="en-US"/>
                        <a:t>Roll no </a:t>
                      </a:r>
                      <a:r>
                        <a:rPr lang="en-US" sz="1800" b="0" i="0" u="none" strike="noStrike" noProof="0">
                          <a:latin typeface="Calibri"/>
                          <a:ea typeface="Calibri"/>
                          <a:cs typeface="Calibri"/>
                        </a:rPr>
                        <a:t>2520030320</a:t>
                      </a:r>
                      <a:endParaRPr lang="en-US" dirty="0"/>
                    </a:p>
                  </a:txBody>
                  <a:tcPr/>
                </a:tc>
                <a:extLst>
                  <a:ext uri="{0D108BD9-81ED-4DB2-BD59-A6C34878D82A}">
                    <a16:rowId xmlns:a16="http://schemas.microsoft.com/office/drawing/2014/main" val="2413438055"/>
                  </a:ext>
                </a:extLst>
              </a:tr>
              <a:tr h="251084">
                <a:tc>
                  <a:txBody>
                    <a:bodyPr/>
                    <a:lstStyle/>
                    <a:p>
                      <a:pPr lvl="0">
                        <a:buNone/>
                      </a:pPr>
                      <a:r>
                        <a:rPr lang="en-US" sz="1800" b="0" i="0" u="none" strike="noStrike" noProof="0" dirty="0">
                          <a:latin typeface="Calibri"/>
                          <a:ea typeface="Calibri"/>
                          <a:cs typeface="Calibri"/>
                        </a:rPr>
                        <a:t>Name3: </a:t>
                      </a:r>
                      <a:r>
                        <a:rPr lang="en-US" sz="1800" b="0" i="0" u="none" strike="noStrike" noProof="0" dirty="0" err="1">
                          <a:latin typeface="Calibri"/>
                          <a:ea typeface="Calibri"/>
                          <a:cs typeface="Calibri"/>
                        </a:rPr>
                        <a:t>P.Teja</a:t>
                      </a:r>
                      <a:endParaRPr lang="en-US" dirty="0" err="1"/>
                    </a:p>
                  </a:txBody>
                  <a:tcPr/>
                </a:tc>
                <a:tc>
                  <a:txBody>
                    <a:bodyPr/>
                    <a:lstStyle/>
                    <a:p>
                      <a:r>
                        <a:rPr lang="en-US" dirty="0"/>
                        <a:t>Roll no </a:t>
                      </a:r>
                      <a:r>
                        <a:rPr lang="en-US" sz="1800" b="0" i="0" u="none" strike="noStrike" noProof="0" dirty="0">
                          <a:latin typeface="Calibri"/>
                          <a:ea typeface="Calibri"/>
                          <a:cs typeface="Calibri"/>
                        </a:rPr>
                        <a:t>2520030569</a:t>
                      </a:r>
                      <a:endParaRPr lang="en-US"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447790884"/>
              </p:ext>
            </p:extLst>
          </p:nvPr>
        </p:nvGraphicFramePr>
        <p:xfrm>
          <a:off x="838199" y="1416193"/>
          <a:ext cx="10515600" cy="3567649"/>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a:t>REVURU AKSHITH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Front End Development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pPr lvl="0">
                        <a:buNone/>
                      </a:pPr>
                      <a:r>
                        <a:rPr lang="en-US" sz="1800" b="0" i="0" u="none" strike="noStrike" noProof="0">
                          <a:latin typeface="Calibri"/>
                          <a:ea typeface="Calibri"/>
                          <a:cs typeface="Calibri"/>
                        </a:rPr>
                        <a:t>KATENI AJAI MANIKANTA</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Back End Development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a:lnSpc>
                          <a:spcPct val="100000"/>
                        </a:lnSpc>
                        <a:spcBef>
                          <a:spcPts val="0"/>
                        </a:spcBef>
                        <a:spcAft>
                          <a:spcPts val="0"/>
                        </a:spcAft>
                        <a:buNone/>
                        <a:tabLst/>
                        <a:defRPr/>
                      </a:pPr>
                      <a:r>
                        <a:rPr lang="en-US" sz="1800" b="0" i="0" u="none" strike="noStrike" noProof="0" dirty="0" err="1">
                          <a:latin typeface="Calibri"/>
                          <a:ea typeface="Calibri"/>
                          <a:cs typeface="Calibri"/>
                        </a:rPr>
                        <a:t>P.Teja</a:t>
                      </a:r>
                      <a:endParaRPr lang="en-US" dirty="0" err="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a:solidFill>
                            <a:schemeClr val="tx1"/>
                          </a:solidFill>
                        </a:rPr>
                        <a:t>Database Development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670035" y="1870749"/>
            <a:ext cx="10608794" cy="4987251"/>
          </a:xfrm>
        </p:spPr>
        <p:txBody>
          <a:bodyPr vert="horz" lIns="91440" tIns="45720" rIns="91440" bIns="45720" rtlCol="0" anchor="t">
            <a:noAutofit/>
          </a:bodyPr>
          <a:lstStyle/>
          <a:p>
            <a:pPr marL="0" indent="0" algn="ctr">
              <a:buNone/>
            </a:pPr>
            <a:r>
              <a:rPr lang="en-IN" sz="1800" b="1" dirty="0"/>
              <a:t>The Food &amp; Beverage Mobile App for Diner Self-Service is a mobile application designed to simplify restaurant food ordering and reduce manual interaction between diners and staff. Traditional ordering methods can cause waiting time, order-entry errors, and delays in communicating orders between the dining area and kitchen. The proposed system allows diners to select their table, browse the menu, place and manage orders, and receive order updates through a mobile application. It includes features such as diner onboarding, table management, menu and order handling, offline order caching, background synchronization, kitchen order display, push notifications, and profile and order history. The application is developed using Android, Kotlin, and Jetpack Compose, with Room Database for local storage and offline caching. Retrofit and a Node.js REST API handle communication with the backend, while MySQL is used for centralized storage of diner, table, menu, and order information. Firebase Cloud Messaging (FCM) provides push notifications, and background synchronization updates locally stored order information when network connectivity is available. The system aims to reduce waiting time, improve order accuracy, and provide a convenient self-service ordering experience. Future enhancements may include online payments, QR-based table identification, loyalty programs, personalized recommendations, and real-time order tracking.</a:t>
            </a:r>
            <a:endParaRPr lang="en-IN" sz="1700" b="1"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vert="horz" lIns="91440" tIns="45720" rIns="91440" bIns="45720" rtlCol="0" anchor="t">
            <a:normAutofit/>
          </a:bodyPr>
          <a:lstStyle/>
          <a:p>
            <a:r>
              <a:rPr lang="en-US" sz="2400">
                <a:ea typeface="+mn-lt"/>
                <a:cs typeface="+mn-lt"/>
              </a:rPr>
              <a:t>A mobile self-service application for restaurant diners.</a:t>
            </a:r>
            <a:endParaRPr lang="en-US" sz="2400">
              <a:ea typeface="Calibri" panose="020F0502020204030204"/>
              <a:cs typeface="Calibri" panose="020F0502020204030204"/>
            </a:endParaRPr>
          </a:p>
          <a:p>
            <a:r>
              <a:rPr lang="en-US" sz="2400">
                <a:ea typeface="+mn-lt"/>
                <a:cs typeface="+mn-lt"/>
              </a:rPr>
              <a:t>Allows diners to manage table orders using their smartphones.</a:t>
            </a:r>
            <a:endParaRPr lang="en-US" sz="2400" dirty="0">
              <a:ea typeface="Calibri"/>
              <a:cs typeface="Calibri"/>
            </a:endParaRPr>
          </a:p>
          <a:p>
            <a:r>
              <a:rPr lang="en-US" sz="2400">
                <a:ea typeface="+mn-lt"/>
                <a:cs typeface="+mn-lt"/>
              </a:rPr>
              <a:t>Provides menu browsing, order placement, and order status updates.</a:t>
            </a:r>
            <a:endParaRPr lang="en-US" sz="2400" dirty="0">
              <a:ea typeface="Calibri"/>
              <a:cs typeface="Calibri"/>
            </a:endParaRPr>
          </a:p>
          <a:p>
            <a:r>
              <a:rPr lang="en-US" sz="2400">
                <a:ea typeface="+mn-lt"/>
                <a:cs typeface="+mn-lt"/>
              </a:rPr>
              <a:t>Connects diners, restaurant staff, and kitchen operations.</a:t>
            </a:r>
            <a:endParaRPr lang="en-US" sz="2400" dirty="0">
              <a:ea typeface="Calibri"/>
              <a:cs typeface="Calibri"/>
            </a:endParaRPr>
          </a:p>
          <a:p>
            <a:r>
              <a:rPr lang="en-US" sz="2400">
                <a:ea typeface="+mn-lt"/>
                <a:cs typeface="+mn-lt"/>
              </a:rPr>
              <a:t>Supports offline order caching and background synchronization.</a:t>
            </a:r>
            <a:endParaRPr lang="en-US" sz="2400" dirty="0">
              <a:ea typeface="Calibri"/>
              <a:cs typeface="Calibri"/>
            </a:endParaRPr>
          </a:p>
          <a:p>
            <a:endParaRPr lang="en-US" sz="2400" dirty="0">
              <a:ea typeface="Calibri"/>
              <a:cs typeface="Calibri"/>
            </a:endParaRP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vert="horz" lIns="91440" tIns="45720" rIns="91440" bIns="45720" rtlCol="0" anchor="t">
            <a:normAutofit/>
          </a:bodyPr>
          <a:lstStyle/>
          <a:p>
            <a:r>
              <a:rPr lang="en-US">
                <a:ea typeface="+mn-lt"/>
                <a:cs typeface="+mn-lt"/>
              </a:rPr>
              <a:t>Orders are commonly placed through direct interaction with restaurant staff.</a:t>
            </a:r>
            <a:endParaRPr lang="en-US">
              <a:ea typeface="Calibri" panose="020F0502020204030204"/>
              <a:cs typeface="Calibri" panose="020F0502020204030204"/>
            </a:endParaRPr>
          </a:p>
          <a:p>
            <a:r>
              <a:rPr lang="en-US">
                <a:ea typeface="+mn-lt"/>
                <a:cs typeface="+mn-lt"/>
              </a:rPr>
              <a:t>Staff manually record and communicate customer orders.</a:t>
            </a:r>
            <a:endParaRPr lang="en-US">
              <a:ea typeface="Calibri"/>
              <a:cs typeface="Calibri"/>
            </a:endParaRPr>
          </a:p>
          <a:p>
            <a:r>
              <a:rPr lang="en-US">
                <a:ea typeface="+mn-lt"/>
                <a:cs typeface="+mn-lt"/>
              </a:rPr>
              <a:t>Diners may need to wait for staff availability.</a:t>
            </a:r>
            <a:endParaRPr lang="en-US">
              <a:ea typeface="Calibri"/>
              <a:cs typeface="Calibri"/>
            </a:endParaRPr>
          </a:p>
          <a:p>
            <a:r>
              <a:rPr lang="en-US">
                <a:ea typeface="+mn-lt"/>
                <a:cs typeface="+mn-lt"/>
              </a:rPr>
              <a:t>Order updates may not be communicated immediately.</a:t>
            </a:r>
            <a:endParaRPr lang="en-US">
              <a:ea typeface="Calibri"/>
              <a:cs typeface="Calibri"/>
            </a:endParaRPr>
          </a:p>
          <a:p>
            <a:r>
              <a:rPr lang="en-US">
                <a:ea typeface="+mn-lt"/>
                <a:cs typeface="+mn-lt"/>
              </a:rPr>
              <a:t>Manual processing can lead to order entry errors and delays.</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vert="horz" lIns="91440" tIns="45720" rIns="91440" bIns="45720" rtlCol="0" anchor="t">
            <a:normAutofit/>
          </a:bodyPr>
          <a:lstStyle/>
          <a:p>
            <a:r>
              <a:rPr lang="en-US">
                <a:ea typeface="+mn-lt"/>
                <a:cs typeface="+mn-lt"/>
              </a:rPr>
              <a:t>Long waiting time for placing and updating orders.</a:t>
            </a:r>
            <a:endParaRPr lang="en-US">
              <a:ea typeface="Calibri" panose="020F0502020204030204"/>
              <a:cs typeface="Calibri" panose="020F0502020204030204"/>
            </a:endParaRPr>
          </a:p>
          <a:p>
            <a:r>
              <a:rPr lang="en-US">
                <a:ea typeface="+mn-lt"/>
                <a:cs typeface="+mn-lt"/>
              </a:rPr>
              <a:t>Dependence on restaurant staff for order management.</a:t>
            </a:r>
            <a:endParaRPr lang="en-US">
              <a:ea typeface="Calibri"/>
              <a:cs typeface="Calibri"/>
            </a:endParaRPr>
          </a:p>
          <a:p>
            <a:r>
              <a:rPr lang="en-US">
                <a:ea typeface="+mn-lt"/>
                <a:cs typeface="+mn-lt"/>
              </a:rPr>
              <a:t>Possibility of incorrect or missed orders.</a:t>
            </a:r>
            <a:endParaRPr lang="en-US">
              <a:ea typeface="Calibri"/>
              <a:cs typeface="Calibri"/>
            </a:endParaRPr>
          </a:p>
          <a:p>
            <a:r>
              <a:rPr lang="en-US">
                <a:ea typeface="+mn-lt"/>
                <a:cs typeface="+mn-lt"/>
              </a:rPr>
              <a:t>Delays in communication between diners and kitchen staff.</a:t>
            </a:r>
            <a:endParaRPr lang="en-US">
              <a:ea typeface="Calibri"/>
              <a:cs typeface="Calibri"/>
            </a:endParaRPr>
          </a:p>
          <a:p>
            <a:r>
              <a:rPr lang="en-US">
                <a:ea typeface="+mn-lt"/>
                <a:cs typeface="+mn-lt"/>
              </a:rPr>
              <a:t>Poor handling of orders when network connectivity is unavailable.</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vert="horz" lIns="91440" tIns="45720" rIns="91440" bIns="45720" rtlCol="0" anchor="t">
            <a:normAutofit/>
          </a:bodyPr>
          <a:lstStyle/>
          <a:p>
            <a:r>
              <a:rPr lang="en-US">
                <a:ea typeface="+mn-lt"/>
                <a:cs typeface="+mn-lt"/>
              </a:rPr>
              <a:t>Develop a </a:t>
            </a:r>
            <a:r>
              <a:rPr lang="en-US" b="1">
                <a:ea typeface="+mn-lt"/>
                <a:cs typeface="+mn-lt"/>
              </a:rPr>
              <a:t>mobile self-service ordering application</a:t>
            </a:r>
            <a:r>
              <a:rPr lang="en-US">
                <a:ea typeface="+mn-lt"/>
                <a:cs typeface="+mn-lt"/>
              </a:rPr>
              <a:t> for diners.</a:t>
            </a:r>
            <a:endParaRPr lang="en-US">
              <a:ea typeface="Calibri" panose="020F0502020204030204"/>
              <a:cs typeface="Calibri" panose="020F0502020204030204"/>
            </a:endParaRPr>
          </a:p>
          <a:p>
            <a:r>
              <a:rPr lang="en-US">
                <a:ea typeface="+mn-lt"/>
                <a:cs typeface="+mn-lt"/>
              </a:rPr>
              <a:t>Enable diners to browse menus and place table orders directly.</a:t>
            </a:r>
            <a:endParaRPr lang="en-US">
              <a:ea typeface="Calibri"/>
              <a:cs typeface="Calibri"/>
            </a:endParaRPr>
          </a:p>
          <a:p>
            <a:r>
              <a:rPr lang="en-US">
                <a:ea typeface="+mn-lt"/>
                <a:cs typeface="+mn-lt"/>
              </a:rPr>
              <a:t>Use </a:t>
            </a:r>
            <a:r>
              <a:rPr lang="en-US" b="1">
                <a:ea typeface="+mn-lt"/>
                <a:cs typeface="+mn-lt"/>
              </a:rPr>
              <a:t>Room Database</a:t>
            </a:r>
            <a:r>
              <a:rPr lang="en-US">
                <a:ea typeface="+mn-lt"/>
                <a:cs typeface="+mn-lt"/>
              </a:rPr>
              <a:t> for offline order caching.</a:t>
            </a:r>
            <a:endParaRPr lang="en-US">
              <a:ea typeface="Calibri"/>
              <a:cs typeface="Calibri"/>
            </a:endParaRPr>
          </a:p>
          <a:p>
            <a:r>
              <a:rPr lang="en-US">
                <a:ea typeface="+mn-lt"/>
                <a:cs typeface="+mn-lt"/>
              </a:rPr>
              <a:t>Use </a:t>
            </a:r>
            <a:r>
              <a:rPr lang="en-US" b="1">
                <a:ea typeface="+mn-lt"/>
                <a:cs typeface="+mn-lt"/>
              </a:rPr>
              <a:t>background synchronization</a:t>
            </a:r>
            <a:r>
              <a:rPr lang="en-US">
                <a:ea typeface="+mn-lt"/>
                <a:cs typeface="+mn-lt"/>
              </a:rPr>
              <a:t> to update orders when connectivity is restored.</a:t>
            </a:r>
            <a:endParaRPr lang="en-US">
              <a:ea typeface="Calibri"/>
              <a:cs typeface="Calibri"/>
            </a:endParaRPr>
          </a:p>
          <a:p>
            <a:r>
              <a:rPr lang="en-US">
                <a:ea typeface="+mn-lt"/>
                <a:cs typeface="+mn-lt"/>
              </a:rPr>
              <a:t>Provide a </a:t>
            </a:r>
            <a:r>
              <a:rPr lang="en-US" b="1">
                <a:ea typeface="+mn-lt"/>
                <a:cs typeface="+mn-lt"/>
              </a:rPr>
              <a:t>Kitchen Display</a:t>
            </a:r>
            <a:r>
              <a:rPr lang="en-US">
                <a:ea typeface="+mn-lt"/>
                <a:cs typeface="+mn-lt"/>
              </a:rPr>
              <a:t> for efficient order processing.</a:t>
            </a:r>
            <a:endParaRPr lang="en-US">
              <a:ea typeface="Calibri"/>
              <a:cs typeface="Calibri"/>
            </a:endParaRPr>
          </a:p>
          <a:p>
            <a:r>
              <a:rPr lang="en-US">
                <a:ea typeface="+mn-lt"/>
                <a:cs typeface="+mn-lt"/>
              </a:rPr>
              <a:t>Use </a:t>
            </a:r>
            <a:r>
              <a:rPr lang="en-US" b="1">
                <a:ea typeface="+mn-lt"/>
                <a:cs typeface="+mn-lt"/>
              </a:rPr>
              <a:t>FCM push notifications</a:t>
            </a:r>
            <a:r>
              <a:rPr lang="en-US">
                <a:ea typeface="+mn-lt"/>
                <a:cs typeface="+mn-lt"/>
              </a:rPr>
              <a:t> to provide order updates.</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vert="horz" lIns="91440" tIns="45720" rIns="91440" bIns="45720" rtlCol="0" anchor="t">
            <a:normAutofit/>
          </a:bodyPr>
          <a:lstStyle/>
          <a:p>
            <a:r>
              <a:rPr lang="en-US">
                <a:ea typeface="+mn-lt"/>
                <a:cs typeface="+mn-lt"/>
              </a:rPr>
              <a:t>Reduce waiting time for restaurant diners.</a:t>
            </a:r>
            <a:endParaRPr lang="en-US">
              <a:ea typeface="Calibri" panose="020F0502020204030204"/>
              <a:cs typeface="Calibri" panose="020F0502020204030204"/>
            </a:endParaRPr>
          </a:p>
          <a:p>
            <a:r>
              <a:rPr lang="en-US">
                <a:ea typeface="+mn-lt"/>
                <a:cs typeface="+mn-lt"/>
              </a:rPr>
              <a:t>Minimize manual order entry and errors.</a:t>
            </a:r>
            <a:endParaRPr lang="en-US">
              <a:ea typeface="Calibri"/>
              <a:cs typeface="Calibri"/>
            </a:endParaRPr>
          </a:p>
          <a:p>
            <a:r>
              <a:rPr lang="en-US">
                <a:ea typeface="+mn-lt"/>
                <a:cs typeface="+mn-lt"/>
              </a:rPr>
              <a:t>Provide a convenient self-service ordering experience.</a:t>
            </a:r>
            <a:endParaRPr lang="en-US">
              <a:ea typeface="Calibri"/>
              <a:cs typeface="Calibri"/>
            </a:endParaRPr>
          </a:p>
          <a:p>
            <a:r>
              <a:rPr lang="en-US">
                <a:ea typeface="+mn-lt"/>
                <a:cs typeface="+mn-lt"/>
              </a:rPr>
              <a:t>Support order management during temporary network issues.</a:t>
            </a:r>
            <a:endParaRPr lang="en-US">
              <a:ea typeface="Calibri"/>
              <a:cs typeface="Calibri"/>
            </a:endParaRPr>
          </a:p>
          <a:p>
            <a:r>
              <a:rPr lang="en-US">
                <a:ea typeface="+mn-lt"/>
                <a:cs typeface="+mn-lt"/>
              </a:rPr>
              <a:t>Improve communication between diners and kitchen staff.</a:t>
            </a:r>
            <a:endParaRPr lang="en-US">
              <a:ea typeface="Calibri"/>
              <a:cs typeface="Calibri"/>
            </a:endParaRPr>
          </a:p>
          <a:p>
            <a:r>
              <a:rPr lang="en-US">
                <a:ea typeface="+mn-lt"/>
                <a:cs typeface="+mn-lt"/>
              </a:rPr>
              <a:t>Maintain organized order and customer history</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vert="horz" lIns="91440" tIns="45720" rIns="91440" bIns="45720" rtlCol="0" anchor="t">
            <a:normAutofit fontScale="55000" lnSpcReduction="20000"/>
          </a:bodyPr>
          <a:lstStyle/>
          <a:p>
            <a:r>
              <a:rPr lang="en-US" b="1">
                <a:ea typeface="+mn-lt"/>
                <a:cs typeface="+mn-lt"/>
              </a:rPr>
              <a:t>Diner Onboarding</a:t>
            </a:r>
            <a:endParaRPr lang="en-US">
              <a:ea typeface="Calibri" panose="020F0502020204030204"/>
              <a:cs typeface="Calibri" panose="020F0502020204030204"/>
            </a:endParaRPr>
          </a:p>
          <a:p>
            <a:r>
              <a:rPr lang="en-US">
                <a:ea typeface="+mn-lt"/>
                <a:cs typeface="+mn-lt"/>
              </a:rPr>
              <a:t>User registration and profile setup.</a:t>
            </a:r>
            <a:endParaRPr lang="en-US">
              <a:ea typeface="Calibri"/>
              <a:cs typeface="Calibri"/>
            </a:endParaRPr>
          </a:p>
          <a:p>
            <a:r>
              <a:rPr lang="en-US" b="1">
                <a:ea typeface="+mn-lt"/>
                <a:cs typeface="+mn-lt"/>
              </a:rPr>
              <a:t>Table Management</a:t>
            </a:r>
            <a:endParaRPr lang="en-US">
              <a:ea typeface="Calibri"/>
              <a:cs typeface="Calibri"/>
            </a:endParaRPr>
          </a:p>
          <a:p>
            <a:r>
              <a:rPr lang="en-US">
                <a:ea typeface="+mn-lt"/>
                <a:cs typeface="+mn-lt"/>
              </a:rPr>
              <a:t>Associate diners and orders with restaurant tables.</a:t>
            </a:r>
            <a:endParaRPr lang="en-US">
              <a:ea typeface="Calibri"/>
              <a:cs typeface="Calibri"/>
            </a:endParaRPr>
          </a:p>
          <a:p>
            <a:r>
              <a:rPr lang="en-US" b="1">
                <a:ea typeface="+mn-lt"/>
                <a:cs typeface="+mn-lt"/>
              </a:rPr>
              <a:t>Menu &amp; Order Management</a:t>
            </a:r>
            <a:endParaRPr lang="en-US">
              <a:ea typeface="Calibri"/>
              <a:cs typeface="Calibri"/>
            </a:endParaRPr>
          </a:p>
          <a:p>
            <a:r>
              <a:rPr lang="en-US">
                <a:ea typeface="+mn-lt"/>
                <a:cs typeface="+mn-lt"/>
              </a:rPr>
              <a:t>Browse food items and place/manage orders.</a:t>
            </a:r>
            <a:endParaRPr lang="en-US">
              <a:ea typeface="Calibri"/>
              <a:cs typeface="Calibri"/>
            </a:endParaRPr>
          </a:p>
          <a:p>
            <a:r>
              <a:rPr lang="en-US" b="1">
                <a:ea typeface="+mn-lt"/>
                <a:cs typeface="+mn-lt"/>
              </a:rPr>
              <a:t>Offline Cache &amp; Background Sync</a:t>
            </a:r>
            <a:endParaRPr lang="en-US">
              <a:ea typeface="Calibri"/>
              <a:cs typeface="Calibri"/>
            </a:endParaRPr>
          </a:p>
          <a:p>
            <a:r>
              <a:rPr lang="en-US">
                <a:ea typeface="+mn-lt"/>
                <a:cs typeface="+mn-lt"/>
              </a:rPr>
              <a:t>Store orders locally and synchronize them when connectivity is available.</a:t>
            </a:r>
            <a:endParaRPr lang="en-US">
              <a:ea typeface="Calibri"/>
              <a:cs typeface="Calibri"/>
            </a:endParaRPr>
          </a:p>
          <a:p>
            <a:r>
              <a:rPr lang="en-US" b="1">
                <a:ea typeface="+mn-lt"/>
                <a:cs typeface="+mn-lt"/>
              </a:rPr>
              <a:t>Kitchen Display</a:t>
            </a:r>
            <a:endParaRPr lang="en-US">
              <a:ea typeface="Calibri"/>
              <a:cs typeface="Calibri"/>
            </a:endParaRPr>
          </a:p>
          <a:p>
            <a:r>
              <a:rPr lang="en-US">
                <a:ea typeface="+mn-lt"/>
                <a:cs typeface="+mn-lt"/>
              </a:rPr>
              <a:t>Display incoming orders for kitchen staff.</a:t>
            </a:r>
            <a:endParaRPr lang="en-US">
              <a:ea typeface="Calibri"/>
              <a:cs typeface="Calibri"/>
            </a:endParaRPr>
          </a:p>
          <a:p>
            <a:r>
              <a:rPr lang="en-US" b="1">
                <a:ea typeface="+mn-lt"/>
                <a:cs typeface="+mn-lt"/>
              </a:rPr>
              <a:t>Push Notifications</a:t>
            </a:r>
            <a:endParaRPr lang="en-US">
              <a:ea typeface="Calibri"/>
              <a:cs typeface="Calibri"/>
            </a:endParaRPr>
          </a:p>
          <a:p>
            <a:r>
              <a:rPr lang="en-US">
                <a:ea typeface="+mn-lt"/>
                <a:cs typeface="+mn-lt"/>
              </a:rPr>
              <a:t>Send order status and other updates to diners.</a:t>
            </a:r>
            <a:endParaRPr lang="en-US">
              <a:ea typeface="Calibri"/>
              <a:cs typeface="Calibri"/>
            </a:endParaRPr>
          </a:p>
          <a:p>
            <a:r>
              <a:rPr lang="en-US" b="1">
                <a:ea typeface="+mn-lt"/>
                <a:cs typeface="+mn-lt"/>
              </a:rPr>
              <a:t>Profile &amp; Order History</a:t>
            </a:r>
            <a:endParaRPr lang="en-US">
              <a:ea typeface="Calibri"/>
              <a:cs typeface="Calibri"/>
            </a:endParaRPr>
          </a:p>
          <a:p>
            <a:r>
              <a:rPr lang="en-US">
                <a:ea typeface="+mn-lt"/>
                <a:cs typeface="+mn-lt"/>
              </a:rPr>
              <a:t>Manage diner information and view previous orders.</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vert="horz" lIns="91440" tIns="45720" rIns="91440" bIns="45720" rtlCol="0" anchor="t">
            <a:normAutofit/>
          </a:bodyPr>
          <a:lstStyle/>
          <a:p>
            <a:r>
              <a:rPr lang="en-US" b="1">
                <a:ea typeface="+mn-lt"/>
                <a:cs typeface="+mn-lt"/>
              </a:rPr>
              <a:t>Platform:</a:t>
            </a:r>
            <a:r>
              <a:rPr lang="en-US">
                <a:ea typeface="+mn-lt"/>
                <a:cs typeface="+mn-lt"/>
              </a:rPr>
              <a:t> Android</a:t>
            </a:r>
            <a:endParaRPr lang="en-US">
              <a:ea typeface="Calibri" panose="020F0502020204030204"/>
              <a:cs typeface="Calibri" panose="020F0502020204030204"/>
            </a:endParaRPr>
          </a:p>
          <a:p>
            <a:r>
              <a:rPr lang="en-US" b="1">
                <a:ea typeface="+mn-lt"/>
                <a:cs typeface="+mn-lt"/>
              </a:rPr>
              <a:t>Programming Language:</a:t>
            </a:r>
            <a:r>
              <a:rPr lang="en-US">
                <a:ea typeface="+mn-lt"/>
                <a:cs typeface="+mn-lt"/>
              </a:rPr>
              <a:t> Kotlin</a:t>
            </a:r>
            <a:endParaRPr lang="en-US">
              <a:ea typeface="Calibri"/>
              <a:cs typeface="Calibri"/>
            </a:endParaRPr>
          </a:p>
          <a:p>
            <a:r>
              <a:rPr lang="en-US" b="1">
                <a:ea typeface="+mn-lt"/>
                <a:cs typeface="+mn-lt"/>
              </a:rPr>
              <a:t>UI Framework:</a:t>
            </a:r>
            <a:r>
              <a:rPr lang="en-US">
                <a:ea typeface="+mn-lt"/>
                <a:cs typeface="+mn-lt"/>
              </a:rPr>
              <a:t> Jetpack Compose</a:t>
            </a:r>
            <a:endParaRPr lang="en-US">
              <a:ea typeface="Calibri"/>
              <a:cs typeface="Calibri"/>
            </a:endParaRPr>
          </a:p>
          <a:p>
            <a:r>
              <a:rPr lang="en-US" b="1">
                <a:ea typeface="+mn-lt"/>
                <a:cs typeface="+mn-lt"/>
              </a:rPr>
              <a:t>Local Database:</a:t>
            </a:r>
            <a:r>
              <a:rPr lang="en-US">
                <a:ea typeface="+mn-lt"/>
                <a:cs typeface="+mn-lt"/>
              </a:rPr>
              <a:t> Room Database</a:t>
            </a:r>
            <a:endParaRPr lang="en-US">
              <a:ea typeface="Calibri"/>
              <a:cs typeface="Calibri"/>
            </a:endParaRPr>
          </a:p>
          <a:p>
            <a:r>
              <a:rPr lang="en-US" b="1">
                <a:ea typeface="+mn-lt"/>
                <a:cs typeface="+mn-lt"/>
              </a:rPr>
              <a:t>API Communication:</a:t>
            </a:r>
            <a:r>
              <a:rPr lang="en-US">
                <a:ea typeface="+mn-lt"/>
                <a:cs typeface="+mn-lt"/>
              </a:rPr>
              <a:t> Retrofit</a:t>
            </a:r>
            <a:endParaRPr lang="en-US">
              <a:ea typeface="Calibri"/>
              <a:cs typeface="Calibri"/>
            </a:endParaRPr>
          </a:p>
          <a:p>
            <a:r>
              <a:rPr lang="en-US" b="1">
                <a:ea typeface="+mn-lt"/>
                <a:cs typeface="+mn-lt"/>
              </a:rPr>
              <a:t>Backend:</a:t>
            </a:r>
            <a:r>
              <a:rPr lang="en-US">
                <a:ea typeface="+mn-lt"/>
                <a:cs typeface="+mn-lt"/>
              </a:rPr>
              <a:t> Node.js REST API</a:t>
            </a:r>
            <a:endParaRPr lang="en-US">
              <a:ea typeface="Calibri"/>
              <a:cs typeface="Calibri"/>
            </a:endParaRPr>
          </a:p>
          <a:p>
            <a:r>
              <a:rPr lang="en-US" b="1">
                <a:ea typeface="+mn-lt"/>
                <a:cs typeface="+mn-lt"/>
              </a:rPr>
              <a:t>Database:</a:t>
            </a:r>
            <a:r>
              <a:rPr lang="en-US">
                <a:ea typeface="+mn-lt"/>
                <a:cs typeface="+mn-lt"/>
              </a:rPr>
              <a:t> MySQL</a:t>
            </a:r>
            <a:endParaRPr lang="en-US">
              <a:ea typeface="Calibri"/>
              <a:cs typeface="Calibri"/>
            </a:endParaRPr>
          </a:p>
          <a:p>
            <a:r>
              <a:rPr lang="en-US" b="1">
                <a:ea typeface="+mn-lt"/>
                <a:cs typeface="+mn-lt"/>
              </a:rPr>
              <a:t>Notifications:</a:t>
            </a:r>
            <a:r>
              <a:rPr lang="en-US">
                <a:ea typeface="+mn-lt"/>
                <a:cs typeface="+mn-lt"/>
              </a:rPr>
              <a:t> Firebase Cloud Messaging (FCM)</a:t>
            </a:r>
            <a:endParaRPr lang="en-US">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0611DFC0-A3BE-3869-FE41-DED56C9D9BE2}"/>
              </a:ext>
            </a:extLst>
          </p:cNvPr>
          <p:cNvSpPr txBox="1"/>
          <p:nvPr/>
        </p:nvSpPr>
        <p:spPr>
          <a:xfrm>
            <a:off x="1027814" y="1078023"/>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a:t>Provides a convenient mobile-based self-service ordering system.</a:t>
            </a:r>
            <a:endParaRPr lang="en-US">
              <a:ea typeface="Calibri"/>
              <a:cs typeface="Calibri"/>
            </a:endParaRPr>
          </a:p>
          <a:p>
            <a:pPr>
              <a:buFont typeface=""/>
              <a:buChar char="•"/>
            </a:pPr>
            <a:r>
              <a:rPr lang="en-US"/>
              <a:t>Reduces waiting time and manual order processing.</a:t>
            </a:r>
            <a:endParaRPr lang="en-US">
              <a:ea typeface="Calibri"/>
              <a:cs typeface="Calibri"/>
            </a:endParaRPr>
          </a:p>
          <a:p>
            <a:pPr>
              <a:buFont typeface=""/>
              <a:buChar char="•"/>
            </a:pPr>
            <a:r>
              <a:rPr lang="en-US"/>
              <a:t>Improves order accuracy and communication with the kitchen.</a:t>
            </a:r>
            <a:endParaRPr lang="en-US">
              <a:ea typeface="Calibri"/>
              <a:cs typeface="Calibri"/>
            </a:endParaRPr>
          </a:p>
          <a:p>
            <a:pPr>
              <a:buFont typeface=""/>
              <a:buChar char="•"/>
            </a:pPr>
            <a:r>
              <a:rPr lang="en-US"/>
              <a:t>Offline caching and background synchronization improve reliability.</a:t>
            </a:r>
            <a:endParaRPr lang="en-US">
              <a:ea typeface="Calibri"/>
              <a:cs typeface="Calibri"/>
            </a:endParaRPr>
          </a:p>
          <a:p>
            <a:pPr>
              <a:buFont typeface=""/>
              <a:buChar char="•"/>
            </a:pPr>
            <a:r>
              <a:rPr lang="en-US"/>
              <a:t>Integrates diner, table, order, and kitchen operations into one platform</a:t>
            </a:r>
            <a:endParaRPr lang="en-US">
              <a:ea typeface="Calibri"/>
              <a:cs typeface="Calibri"/>
            </a:endParaRPr>
          </a:p>
          <a:p>
            <a:pPr algn="ctr"/>
            <a:endParaRPr lang="en-US" dirty="0">
              <a:ea typeface="Calibri"/>
              <a:cs typeface="Calibri"/>
            </a:endParaRPr>
          </a:p>
        </p:txBody>
      </p:sp>
      <p:sp>
        <p:nvSpPr>
          <p:cNvPr id="4" name="TextBox 3">
            <a:extLst>
              <a:ext uri="{FF2B5EF4-FFF2-40B4-BE49-F238E27FC236}">
                <a16:creationId xmlns:a16="http://schemas.microsoft.com/office/drawing/2014/main" id="{4E348798-1D5B-E575-6602-D9600B4CA08E}"/>
              </a:ext>
            </a:extLst>
          </p:cNvPr>
          <p:cNvSpPr txBox="1"/>
          <p:nvPr/>
        </p:nvSpPr>
        <p:spPr>
          <a:xfrm>
            <a:off x="1027814" y="4173279"/>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a:t>Online payment gateway integration.</a:t>
            </a:r>
            <a:endParaRPr lang="en-US">
              <a:ea typeface="Calibri"/>
              <a:cs typeface="Calibri"/>
            </a:endParaRPr>
          </a:p>
          <a:p>
            <a:pPr>
              <a:buFont typeface=""/>
              <a:buChar char="•"/>
            </a:pPr>
            <a:r>
              <a:rPr lang="en-US"/>
              <a:t>Digital menu recommendations.</a:t>
            </a:r>
            <a:endParaRPr lang="en-US">
              <a:ea typeface="Calibri"/>
              <a:cs typeface="Calibri"/>
            </a:endParaRPr>
          </a:p>
          <a:p>
            <a:pPr>
              <a:buFont typeface=""/>
              <a:buChar char="•"/>
            </a:pPr>
            <a:r>
              <a:rPr lang="en-US"/>
              <a:t>Loyalty and reward features.</a:t>
            </a:r>
            <a:endParaRPr lang="en-US">
              <a:ea typeface="Calibri"/>
              <a:cs typeface="Calibri"/>
            </a:endParaRPr>
          </a:p>
          <a:p>
            <a:pPr>
              <a:buFont typeface=""/>
              <a:buChar char="•"/>
            </a:pPr>
            <a:r>
              <a:rPr lang="en-US"/>
              <a:t>Real-time order tracking.</a:t>
            </a:r>
            <a:endParaRPr lang="en-US">
              <a:ea typeface="Calibri"/>
              <a:cs typeface="Calibri"/>
            </a:endParaRPr>
          </a:p>
          <a:p>
            <a:pPr>
              <a:buFont typeface=""/>
              <a:buChar char="•"/>
            </a:pPr>
            <a:r>
              <a:rPr lang="en-US"/>
              <a:t>QR-based table identification.</a:t>
            </a:r>
            <a:endParaRPr lang="en-US">
              <a:ea typeface="Calibri"/>
              <a:cs typeface="Calibri"/>
            </a:endParaRPr>
          </a:p>
          <a:p>
            <a:pPr>
              <a:buFont typeface=""/>
              <a:buChar char="•"/>
            </a:pPr>
            <a:r>
              <a:rPr lang="en-US"/>
              <a:t>Integration with additional restaurant management services.</a:t>
            </a:r>
            <a:endParaRPr lang="en-US">
              <a:ea typeface="Calibri"/>
              <a:cs typeface="Calibri"/>
            </a:endParaRPr>
          </a:p>
          <a:p>
            <a:pPr algn="ctr"/>
            <a:endParaRPr lang="en-US" dirty="0">
              <a:ea typeface="Calibri"/>
              <a:cs typeface="Calibri"/>
            </a:endParaRP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8241</TotalTime>
  <Words>801</Words>
  <Application>Microsoft Office PowerPoint</Application>
  <PresentationFormat>Widescreen</PresentationFormat>
  <Paragraphs>131</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Food &amp; Beverage Mobile App for Diner Self-Service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Ajai Manikanta</cp:lastModifiedBy>
  <cp:revision>169</cp:revision>
  <dcterms:created xsi:type="dcterms:W3CDTF">2022-05-20T10:20:31Z</dcterms:created>
  <dcterms:modified xsi:type="dcterms:W3CDTF">2026-08-18T08:17:17Z</dcterms:modified>
</cp:coreProperties>
</file>